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AAF3C-4B19-4C46-8A25-861C3C59B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DCDD3C-8E12-4BDD-BA8F-AC75BC5F5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EEDB0F-4AFB-4CA4-B1A9-B8007E94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720C1-175A-40A5-AFF0-DC40F935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7FCCF1-3AAD-400A-9276-45507882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357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44DDB-2DEC-4F83-A817-AB463B3F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A1C5DC-AAC0-4D92-AF86-AD7153992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4381-A50F-44CA-8A02-63B4AE42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7B8E61-252A-4CF9-9F44-DAD3C532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3521DE-F551-4A14-B849-15417D76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253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E8C95-B9F6-4D53-B682-8D1C4E23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CA251D-6DED-4F68-926C-BC9B21B45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D3896B-693A-47BA-9169-C6566F18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001E-4375-4263-91D8-1290CB1A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544E4F-8D60-48AA-85EA-ACB25464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7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8309E-6BF3-4874-A10B-6AB3D811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FF6B0E-08F0-43A6-B740-7FC857F16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8C3FF2-C963-4B72-9AF5-9BB1632B4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9E11A7-D8DA-4512-A307-A901CDAD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AE982F-6D72-4E33-BE1F-6FE2FA68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B610D2-A8B4-42E4-99B2-8D11B524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552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F1FF5-7FFB-43A7-BE17-0088173D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28E82-4D01-4D53-80F4-69B9ABB6D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84FCC7-DB5B-4802-9A70-E9B93BA9B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7C7A4A-F9D5-420C-86C7-76E84D5B5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E690BF-418C-4CD2-95A1-96111BAFD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8E8EF1-D690-4268-94B9-CC76B9F8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B74A6E-724D-4A35-8DF5-8C095ACA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20EC84-C7EA-4524-8BE6-9762004F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18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94A9C-D16B-4808-80B5-99097C39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955F1F-050E-4476-AEF2-09F17854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B30382-978D-4022-A2E6-61D52F34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162927-1EBB-434B-8E26-01D032C5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301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0B5FEB-DEDC-4024-9874-DAC87C0E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CF2F20-EEDB-418C-BA91-4320DC78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29174-9A27-47DA-BA80-D6A4D243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44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24C1C-6BC8-482D-9564-E5736A2C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E9ACE-DB35-46D6-995D-3355B603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9982E0-1F23-4E39-95A7-383A913A8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369044-B52F-492F-BDD0-9BF35450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5F7095-CA47-46EB-B94D-541C44C9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7DF815-359C-4932-B32D-C84AB477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30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C97B7-229C-426D-B0C9-D069F890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A5D074-C0D2-437F-8D6F-FCB1D5B45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4D3D71-267D-44F4-BD80-CAF435153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84C2D8-A6B7-4238-8ABF-A66F4035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82B7D4-714A-43E4-9C8D-232C4509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7B49CB-C7DC-43CF-94F4-296FF418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88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D44A7-34B9-4E0C-AAF4-E5ED061F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E8A5F8-F360-4414-873A-62289C7B4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81E6-5A4E-4184-8C12-17EE79EF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1DDC10-2915-4E23-8052-0A8D2EA1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65255-CA0E-4825-8953-307664D9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5786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EE2F23-E483-4402-A7D6-8A82B0A8F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60F503-2A04-48C5-B0BF-424FA677A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E3BCC-14A1-4124-97C4-14DC4B31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F7387C-A842-4DA9-8216-DD54AB41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2641C-B927-46C0-BD41-5C38F99A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617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F2078A-605A-438D-B743-6D6AB59F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8F8BC-F9D9-4BB0-A2F7-314CD62F1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6A9AD-AF01-46EE-9B1E-599260220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3991-000C-49EE-939D-AE82C0FA11BD}" type="datetimeFigureOut">
              <a:rPr lang="ko-KR" altLang="en-US" smtClean="0"/>
              <a:t>2020-03-10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3C12D4-596A-4103-950B-652B65308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28D15-6A0E-4767-B34E-883A3D064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2ED73-EC50-4015-A451-03F5256C68C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000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4542A9-DBCF-4E5C-8C2A-8206EAB76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628" y="1783959"/>
            <a:ext cx="4645250" cy="2889114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dirty="0" err="1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Voo-ong</a:t>
            </a:r>
            <a:endParaRPr lang="ko-KR" altLang="en-US" dirty="0">
              <a:solidFill>
                <a:schemeClr val="bg1"/>
              </a:solidFill>
              <a:latin typeface="경기천년제목OTF Bold" panose="02020803020101020101" pitchFamily="18" charset="-127"/>
              <a:ea typeface="경기천년제목OTF Bold" panose="020208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1A1A9F-F8D7-4761-BC8F-EA48D1024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6627" y="4750893"/>
            <a:ext cx="4645250" cy="1147863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20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개인 맞춤 영화 추천 시스템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30AD3C-AB9A-4D28-B9E4-F5400531A1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825" y="489204"/>
            <a:ext cx="3646956" cy="451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21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CB0D5F1B-83C5-41D2-BA9F-7021EB00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3877056" cy="22494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4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현재 존재하는 영화 추천 서비스</a:t>
            </a:r>
            <a:endParaRPr lang="en-US" altLang="ko-KR" sz="4200" dirty="0">
              <a:latin typeface="경기천년제목OTF Bold" panose="02020803020101020101" pitchFamily="18" charset="-127"/>
              <a:ea typeface="경기천년제목OTF Bold" panose="02020803020101020101" pitchFamily="18" charset="-127"/>
            </a:endParaRPr>
          </a:p>
        </p:txBody>
      </p:sp>
      <p:pic>
        <p:nvPicPr>
          <p:cNvPr id="5" name="그림 4" descr="텍스트, 시계, 표지판, 검은색이(가) 표시된 사진&#10;&#10;자동 생성된 설명">
            <a:extLst>
              <a:ext uri="{FF2B5EF4-FFF2-40B4-BE49-F238E27FC236}">
                <a16:creationId xmlns:a16="http://schemas.microsoft.com/office/drawing/2014/main" id="{B895BBBA-357B-4547-9795-1573043C4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1" y="1039199"/>
            <a:ext cx="4416894" cy="119256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EAB2A5C-A808-4E57-969C-9E807B736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81" y="4301703"/>
            <a:ext cx="5702113" cy="85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30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48A740BC-A0AA-45E0-B899-2AE9C6FE1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680382-207A-4276-B13B-2A7131ED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4000" kern="120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문제점</a:t>
            </a:r>
            <a:endParaRPr lang="ko-KR" altLang="en-US" sz="4000" kern="1200" dirty="0">
              <a:latin typeface="경기천년제목OTF Bold" panose="02020803020101020101" pitchFamily="18" charset="-127"/>
              <a:ea typeface="경기천년제목OTF Bold" panose="02020803020101020101" pitchFamily="18" charset="-127"/>
            </a:endParaRPr>
          </a:p>
        </p:txBody>
      </p: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B874EF51-C858-4BB9-97C3-D17755787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21602-0552-4D78-B6F1-FFFD10810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644518"/>
            <a:ext cx="9013052" cy="3327251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0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내가 자주 보는 장르가 </a:t>
            </a:r>
            <a:r>
              <a:rPr lang="ko-KR" altLang="en-US" sz="2000" dirty="0" err="1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뭐지</a:t>
            </a:r>
            <a:r>
              <a:rPr lang="en-US" altLang="ko-KR" sz="20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?</a:t>
            </a:r>
          </a:p>
          <a:p>
            <a:pPr latinLnBrk="0"/>
            <a:r>
              <a:rPr lang="ko-KR" altLang="en-US" sz="2000" kern="1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내가 많이 보는 영화</a:t>
            </a:r>
            <a:r>
              <a:rPr lang="en-US" altLang="ko-KR" sz="2000" kern="1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, </a:t>
            </a:r>
            <a:r>
              <a:rPr lang="ko-KR" altLang="en-US" sz="2000" kern="1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드라마의 감독</a:t>
            </a:r>
            <a:r>
              <a:rPr lang="en-US" altLang="ko-KR" sz="2000" kern="1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, </a:t>
            </a:r>
            <a:r>
              <a:rPr lang="ko-KR" altLang="en-US" sz="2000" kern="1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작가는 </a:t>
            </a:r>
            <a:r>
              <a:rPr lang="ko-KR" altLang="en-US" sz="2000" kern="1200" dirty="0" err="1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누구지</a:t>
            </a:r>
            <a:r>
              <a:rPr lang="en-US" altLang="ko-KR" sz="2000" kern="12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?</a:t>
            </a:r>
          </a:p>
          <a:p>
            <a:pPr latinLnBrk="0"/>
            <a:r>
              <a:rPr lang="ko-KR" altLang="en-US" sz="20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내가 어떤 배우의 영화</a:t>
            </a:r>
            <a:r>
              <a:rPr lang="en-US" altLang="ko-KR" sz="20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, </a:t>
            </a:r>
            <a:r>
              <a:rPr lang="ko-KR" altLang="en-US" sz="20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드라마를 많이 볼까</a:t>
            </a:r>
            <a:r>
              <a:rPr lang="en-US" altLang="ko-KR" sz="2000" dirty="0"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?</a:t>
            </a:r>
            <a:endParaRPr lang="en-US" altLang="ko-KR" sz="2000" kern="1200" dirty="0">
              <a:latin typeface="경기천년제목OTF Bold" panose="02020803020101020101" pitchFamily="18" charset="-127"/>
              <a:ea typeface="경기천년제목OTF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0108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2D19A2-098D-4918-B089-AECA4C0F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8400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ko-KR" altLang="en-US" sz="5800" kern="120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해결방안 및 아이디어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30654-4D33-430D-88D6-FD05DE11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256436"/>
            <a:ext cx="9144000" cy="160081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/>
            <a:endParaRPr lang="en-US" altLang="ko-KR" sz="2400" kern="120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506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12">
            <a:extLst>
              <a:ext uri="{FF2B5EF4-FFF2-40B4-BE49-F238E27FC236}">
                <a16:creationId xmlns:a16="http://schemas.microsoft.com/office/drawing/2014/main" id="{9D3A9E89-033E-4C4A-8C41-416DABFFD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4">
            <a:extLst>
              <a:ext uri="{FF2B5EF4-FFF2-40B4-BE49-F238E27FC236}">
                <a16:creationId xmlns:a16="http://schemas.microsoft.com/office/drawing/2014/main" id="{86293361-111E-427D-8E5B-256944AC8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4588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A48DB-AE4C-4841-BFBB-73F4B563E4B5}"/>
              </a:ext>
            </a:extLst>
          </p:cNvPr>
          <p:cNvSpPr txBox="1"/>
          <p:nvPr/>
        </p:nvSpPr>
        <p:spPr>
          <a:xfrm>
            <a:off x="8740797" y="1122363"/>
            <a:ext cx="3084758" cy="2902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  <a:cs typeface="+mj-cs"/>
              </a:rPr>
              <a:t>1. </a:t>
            </a:r>
            <a:r>
              <a:rPr lang="ko-KR" altLang="en-US" sz="40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  <a:cs typeface="+mj-cs"/>
              </a:rPr>
              <a:t>영화 및 드라마</a:t>
            </a:r>
            <a:r>
              <a:rPr lang="en-US" altLang="ko-KR" sz="40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  <a:cs typeface="+mj-cs"/>
              </a:rPr>
              <a:t> </a:t>
            </a:r>
            <a:r>
              <a:rPr lang="ko-KR" altLang="en-US" sz="40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  <a:cs typeface="+mj-cs"/>
              </a:rPr>
              <a:t>정보 수집</a:t>
            </a:r>
          </a:p>
        </p:txBody>
      </p:sp>
      <p:grpSp>
        <p:nvGrpSpPr>
          <p:cNvPr id="43" name="Group 16">
            <a:extLst>
              <a:ext uri="{FF2B5EF4-FFF2-40B4-BE49-F238E27FC236}">
                <a16:creationId xmlns:a16="http://schemas.microsoft.com/office/drawing/2014/main" id="{9A19A3F5-314C-46CC-8695-7C6BFCACF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41664" y="73152"/>
            <a:ext cx="1178966" cy="232963"/>
            <a:chOff x="7763256" y="73152"/>
            <a:chExt cx="1178966" cy="232963"/>
          </a:xfrm>
        </p:grpSpPr>
        <p:sp>
          <p:nvSpPr>
            <p:cNvPr id="44" name="Rectangle 64">
              <a:extLst>
                <a:ext uri="{FF2B5EF4-FFF2-40B4-BE49-F238E27FC236}">
                  <a16:creationId xmlns:a16="http://schemas.microsoft.com/office/drawing/2014/main" id="{278F674D-D76D-4798-B032-C8B53BB24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66">
              <a:extLst>
                <a:ext uri="{FF2B5EF4-FFF2-40B4-BE49-F238E27FC236}">
                  <a16:creationId xmlns:a16="http://schemas.microsoft.com/office/drawing/2014/main" id="{93C95A67-CFD6-49FD-BAAA-A697C0CD3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64">
              <a:extLst>
                <a:ext uri="{FF2B5EF4-FFF2-40B4-BE49-F238E27FC236}">
                  <a16:creationId xmlns:a16="http://schemas.microsoft.com/office/drawing/2014/main" id="{182CC514-9A22-43DC-9B8B-274A1BA4F3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66">
              <a:extLst>
                <a:ext uri="{FF2B5EF4-FFF2-40B4-BE49-F238E27FC236}">
                  <a16:creationId xmlns:a16="http://schemas.microsoft.com/office/drawing/2014/main" id="{C5736E08-B988-4CC3-A244-9E5F806B4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64">
              <a:extLst>
                <a:ext uri="{FF2B5EF4-FFF2-40B4-BE49-F238E27FC236}">
                  <a16:creationId xmlns:a16="http://schemas.microsoft.com/office/drawing/2014/main" id="{B2938EAC-3109-4B44-9E80-A9A7D99F1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66">
              <a:extLst>
                <a:ext uri="{FF2B5EF4-FFF2-40B4-BE49-F238E27FC236}">
                  <a16:creationId xmlns:a16="http://schemas.microsoft.com/office/drawing/2014/main" id="{E10B9525-3F05-4446-8486-E44910EE6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64">
              <a:extLst>
                <a:ext uri="{FF2B5EF4-FFF2-40B4-BE49-F238E27FC236}">
                  <a16:creationId xmlns:a16="http://schemas.microsoft.com/office/drawing/2014/main" id="{F93E511D-E6DC-4D13-976A-0110E165A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66">
              <a:extLst>
                <a:ext uri="{FF2B5EF4-FFF2-40B4-BE49-F238E27FC236}">
                  <a16:creationId xmlns:a16="http://schemas.microsoft.com/office/drawing/2014/main" id="{85684F25-E83E-4E6D-AD9A-B9BDDB0E7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64">
              <a:extLst>
                <a:ext uri="{FF2B5EF4-FFF2-40B4-BE49-F238E27FC236}">
                  <a16:creationId xmlns:a16="http://schemas.microsoft.com/office/drawing/2014/main" id="{118B2579-8426-416F-8744-D7EB91511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66">
              <a:extLst>
                <a:ext uri="{FF2B5EF4-FFF2-40B4-BE49-F238E27FC236}">
                  <a16:creationId xmlns:a16="http://schemas.microsoft.com/office/drawing/2014/main" id="{5B4CB9E6-5FA1-4665-888E-BEBD41CC8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64">
              <a:extLst>
                <a:ext uri="{FF2B5EF4-FFF2-40B4-BE49-F238E27FC236}">
                  <a16:creationId xmlns:a16="http://schemas.microsoft.com/office/drawing/2014/main" id="{5095E589-7E16-4865-B076-8C04BA65A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66">
              <a:extLst>
                <a:ext uri="{FF2B5EF4-FFF2-40B4-BE49-F238E27FC236}">
                  <a16:creationId xmlns:a16="http://schemas.microsoft.com/office/drawing/2014/main" id="{6D0546CB-725B-4586-BEDD-A8E1DA49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64">
              <a:extLst>
                <a:ext uri="{FF2B5EF4-FFF2-40B4-BE49-F238E27FC236}">
                  <a16:creationId xmlns:a16="http://schemas.microsoft.com/office/drawing/2014/main" id="{AB5EE017-5E43-4AB4-BF17-C2150694C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66">
              <a:extLst>
                <a:ext uri="{FF2B5EF4-FFF2-40B4-BE49-F238E27FC236}">
                  <a16:creationId xmlns:a16="http://schemas.microsoft.com/office/drawing/2014/main" id="{456BFE42-FE3E-4763-A6E8-BC9C34C10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64">
              <a:extLst>
                <a:ext uri="{FF2B5EF4-FFF2-40B4-BE49-F238E27FC236}">
                  <a16:creationId xmlns:a16="http://schemas.microsoft.com/office/drawing/2014/main" id="{A395DBA0-7465-4857-B1C8-CB25971B0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BC8EB897-B7B1-4BAD-AB7C-A40DE6F4B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64">
              <a:extLst>
                <a:ext uri="{FF2B5EF4-FFF2-40B4-BE49-F238E27FC236}">
                  <a16:creationId xmlns:a16="http://schemas.microsoft.com/office/drawing/2014/main" id="{4664B19C-7F4F-4092-ADCA-581CE08E1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6">
              <a:extLst>
                <a:ext uri="{FF2B5EF4-FFF2-40B4-BE49-F238E27FC236}">
                  <a16:creationId xmlns:a16="http://schemas.microsoft.com/office/drawing/2014/main" id="{1841D5A7-F7A1-4A43-834B-F6DF2B0E2F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4">
              <a:extLst>
                <a:ext uri="{FF2B5EF4-FFF2-40B4-BE49-F238E27FC236}">
                  <a16:creationId xmlns:a16="http://schemas.microsoft.com/office/drawing/2014/main" id="{07387B72-31EA-4F4A-8CAD-2132C3335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6">
              <a:extLst>
                <a:ext uri="{FF2B5EF4-FFF2-40B4-BE49-F238E27FC236}">
                  <a16:creationId xmlns:a16="http://schemas.microsoft.com/office/drawing/2014/main" id="{99841BC6-D90A-4F47-B7B0-21B4DEA249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그림 7" descr="스크린샷, 모니터, 화면, 컴퓨터이(가) 표시된 사진&#10;&#10;자동 생성된 설명">
            <a:extLst>
              <a:ext uri="{FF2B5EF4-FFF2-40B4-BE49-F238E27FC236}">
                <a16:creationId xmlns:a16="http://schemas.microsoft.com/office/drawing/2014/main" id="{17EB8927-4BB8-465F-899F-2422FD4B7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93" b="-3"/>
          <a:stretch/>
        </p:blipFill>
        <p:spPr>
          <a:xfrm>
            <a:off x="224949" y="576072"/>
            <a:ext cx="3919228" cy="5522976"/>
          </a:xfrm>
          <a:prstGeom prst="rect">
            <a:avLst/>
          </a:prstGeom>
        </p:spPr>
      </p:pic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D88A0AA3-58EC-41DA-A479-08DDEFDD69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12" b="-3"/>
          <a:stretch/>
        </p:blipFill>
        <p:spPr>
          <a:xfrm>
            <a:off x="4346544" y="576072"/>
            <a:ext cx="3922776" cy="5522976"/>
          </a:xfrm>
          <a:prstGeom prst="rect">
            <a:avLst/>
          </a:prstGeom>
        </p:spPr>
      </p:pic>
      <p:sp>
        <p:nvSpPr>
          <p:cNvPr id="64" name="Rectangle 38">
            <a:extLst>
              <a:ext uri="{FF2B5EF4-FFF2-40B4-BE49-F238E27FC236}">
                <a16:creationId xmlns:a16="http://schemas.microsoft.com/office/drawing/2014/main" id="{78907291-9D6D-4740-81DB-441477BCA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6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D4851CEC-5E6E-401C-ABBE-B721AF2E64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95" r="-1" b="5269"/>
          <a:stretch/>
        </p:blipFill>
        <p:spPr>
          <a:xfrm>
            <a:off x="535070" y="346167"/>
            <a:ext cx="2994173" cy="1588946"/>
          </a:xfrm>
          <a:prstGeom prst="rect">
            <a:avLst/>
          </a:prstGeom>
        </p:spPr>
      </p:pic>
      <p:pic>
        <p:nvPicPr>
          <p:cNvPr id="8" name="그림 7" descr="스크린샷, 전화이(가) 표시된 사진&#10;&#10;자동 생성된 설명">
            <a:extLst>
              <a:ext uri="{FF2B5EF4-FFF2-40B4-BE49-F238E27FC236}">
                <a16:creationId xmlns:a16="http://schemas.microsoft.com/office/drawing/2014/main" id="{8F524555-8D8D-409E-9F72-5BAA109724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2" r="964" b="4"/>
          <a:stretch/>
        </p:blipFill>
        <p:spPr>
          <a:xfrm>
            <a:off x="5294742" y="346167"/>
            <a:ext cx="1429964" cy="1547944"/>
          </a:xfrm>
          <a:prstGeom prst="rect">
            <a:avLst/>
          </a:prstGeom>
        </p:spPr>
      </p:pic>
      <p:pic>
        <p:nvPicPr>
          <p:cNvPr id="18" name="그림 17" descr="데이터베이스">
            <a:extLst>
              <a:ext uri="{FF2B5EF4-FFF2-40B4-BE49-F238E27FC236}">
                <a16:creationId xmlns:a16="http://schemas.microsoft.com/office/drawing/2014/main" id="{6A702093-23D0-4015-8198-D8439B616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357871" y="346168"/>
            <a:ext cx="1545352" cy="1545352"/>
          </a:xfrm>
          <a:prstGeom prst="rect">
            <a:avLst/>
          </a:prstGeom>
        </p:spPr>
      </p:pic>
      <p:pic>
        <p:nvPicPr>
          <p:cNvPr id="14" name="그림 13" descr="스크린샷, 컴퓨터, 노트북이(가) 표시된 사진&#10;&#10;자동 생성된 설명">
            <a:extLst>
              <a:ext uri="{FF2B5EF4-FFF2-40B4-BE49-F238E27FC236}">
                <a16:creationId xmlns:a16="http://schemas.microsoft.com/office/drawing/2014/main" id="{4C0BEB52-F8BB-4297-A586-133124C20EB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" r="1" b="48988"/>
          <a:stretch/>
        </p:blipFill>
        <p:spPr>
          <a:xfrm>
            <a:off x="532668" y="2639045"/>
            <a:ext cx="2998975" cy="1588934"/>
          </a:xfrm>
          <a:prstGeom prst="rect">
            <a:avLst/>
          </a:prstGeom>
        </p:spPr>
      </p:pic>
      <p:pic>
        <p:nvPicPr>
          <p:cNvPr id="12" name="그림 11" descr="스크린샷이(가) 표시된 사진&#10;&#10;자동 생성된 설명">
            <a:extLst>
              <a:ext uri="{FF2B5EF4-FFF2-40B4-BE49-F238E27FC236}">
                <a16:creationId xmlns:a16="http://schemas.microsoft.com/office/drawing/2014/main" id="{56690730-C47E-4A86-9505-3ED7F735F8E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08" r="3" b="21121"/>
          <a:stretch/>
        </p:blipFill>
        <p:spPr>
          <a:xfrm>
            <a:off x="535894" y="4930536"/>
            <a:ext cx="2989360" cy="158266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5127" y="2300641"/>
            <a:ext cx="4236873" cy="45573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569690-B6DA-4CF1-BB41-1D0380C7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152" y="2916520"/>
            <a:ext cx="2840391" cy="2309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4800" kern="1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2. </a:t>
            </a:r>
            <a:r>
              <a:rPr lang="ko-KR" altLang="en-US" sz="4800" kern="1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상세 정보 포함 </a:t>
            </a:r>
            <a:r>
              <a:rPr lang="en-US" altLang="ko-KR" sz="4800" kern="1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DB </a:t>
            </a:r>
            <a:r>
              <a:rPr lang="ko-KR" altLang="en-US" sz="4800" kern="1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구축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1218895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8"/>
            <a:ext cx="4064320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65C0665F-B356-401E-81FB-7F5D082F9C8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26" r="-2" b="9327"/>
          <a:stretch/>
        </p:blipFill>
        <p:spPr>
          <a:xfrm>
            <a:off x="4449829" y="2851248"/>
            <a:ext cx="3179408" cy="3445773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40636" y="5336249"/>
            <a:ext cx="1892695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5BC1A52-F960-498F-AE71-1A8290D6F788}"/>
              </a:ext>
            </a:extLst>
          </p:cNvPr>
          <p:cNvCxnSpPr>
            <a:stCxn id="8" idx="3"/>
            <a:endCxn id="18" idx="1"/>
          </p:cNvCxnSpPr>
          <p:nvPr/>
        </p:nvCxnSpPr>
        <p:spPr>
          <a:xfrm flipV="1">
            <a:off x="6724706" y="1118844"/>
            <a:ext cx="2547313" cy="12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65D63E2-DA32-498F-B4CD-415B900D9533}"/>
              </a:ext>
            </a:extLst>
          </p:cNvPr>
          <p:cNvCxnSpPr>
            <a:stCxn id="10" idx="3"/>
            <a:endCxn id="18" idx="1"/>
          </p:cNvCxnSpPr>
          <p:nvPr/>
        </p:nvCxnSpPr>
        <p:spPr>
          <a:xfrm flipV="1">
            <a:off x="7629237" y="1118844"/>
            <a:ext cx="1642782" cy="345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A66EADF-A2F0-4F67-B223-8E574602F6BA}"/>
              </a:ext>
            </a:extLst>
          </p:cNvPr>
          <p:cNvCxnSpPr>
            <a:stCxn id="4" idx="2"/>
            <a:endCxn id="18" idx="1"/>
          </p:cNvCxnSpPr>
          <p:nvPr/>
        </p:nvCxnSpPr>
        <p:spPr>
          <a:xfrm rot="5400000" flipH="1" flipV="1">
            <a:off x="5243953" y="-2092952"/>
            <a:ext cx="816269" cy="7239862"/>
          </a:xfrm>
          <a:prstGeom prst="bentConnector4">
            <a:avLst>
              <a:gd name="adj1" fmla="val -28005"/>
              <a:gd name="adj2" fmla="val 82471"/>
            </a:avLst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09D36FF-2302-44D8-8D85-AEDDAE84C886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 flipV="1">
            <a:off x="3531643" y="1118844"/>
            <a:ext cx="5740376" cy="23146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BA76FB3-E2D5-4570-A10B-AE163CBAC843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 flipV="1">
            <a:off x="3525254" y="1118844"/>
            <a:ext cx="5746765" cy="46030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3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B58FAB-A5D3-48EC-9319-DC1B976A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0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3. </a:t>
            </a:r>
            <a:r>
              <a:rPr lang="ko-KR" altLang="en-US" sz="60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각 정보의 태그화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래픽 3" descr="레이블">
            <a:extLst>
              <a:ext uri="{FF2B5EF4-FFF2-40B4-BE49-F238E27FC236}">
                <a16:creationId xmlns:a16="http://schemas.microsoft.com/office/drawing/2014/main" id="{3B9C07C3-FCC3-4C79-90EE-E1F6737CF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382" y="720993"/>
            <a:ext cx="4047843" cy="40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8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A199FE-B50C-42A1-BD52-04A995D8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4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4. </a:t>
            </a:r>
            <a:r>
              <a:rPr lang="ko-KR" altLang="en-US" sz="4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각 영화</a:t>
            </a:r>
            <a:r>
              <a:rPr lang="en-US" altLang="ko-KR" sz="4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, </a:t>
            </a:r>
            <a:r>
              <a:rPr lang="ko-KR" altLang="en-US" sz="4200" dirty="0">
                <a:solidFill>
                  <a:srgbClr val="FFFFFF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드라마에 대한 이용자의 평가 입력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래픽 5" descr="채우기 없는 웃는 얼굴">
            <a:extLst>
              <a:ext uri="{FF2B5EF4-FFF2-40B4-BE49-F238E27FC236}">
                <a16:creationId xmlns:a16="http://schemas.microsoft.com/office/drawing/2014/main" id="{C75458B9-5CCB-4409-9F1F-DE1D73C0A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707" y="2426818"/>
            <a:ext cx="3997637" cy="399763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래픽 7" descr="채우기 없는 슬픈 얼굴">
            <a:extLst>
              <a:ext uri="{FF2B5EF4-FFF2-40B4-BE49-F238E27FC236}">
                <a16:creationId xmlns:a16="http://schemas.microsoft.com/office/drawing/2014/main" id="{EF29ACAC-23C1-40E3-9ABB-C8FEC92A2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4213" y="2426818"/>
            <a:ext cx="3997637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19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66B5D0-5AE1-490B-81CB-3E5B126FB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0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5. </a:t>
            </a:r>
            <a:r>
              <a:rPr lang="ko-KR" altLang="en-US" sz="60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평가를 바탕으로 한 추천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래픽 3" descr="전구">
            <a:extLst>
              <a:ext uri="{FF2B5EF4-FFF2-40B4-BE49-F238E27FC236}">
                <a16:creationId xmlns:a16="http://schemas.microsoft.com/office/drawing/2014/main" id="{449231CE-03BA-4794-B36F-6CF210DFA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382" y="720993"/>
            <a:ext cx="4047843" cy="40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8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4C86DF-2CE6-4473-A7A6-92B14FFA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095" y="851517"/>
            <a:ext cx="5238466" cy="29914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42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6. </a:t>
            </a:r>
            <a:r>
              <a:rPr lang="ko-KR" altLang="en-US" sz="42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추천했던 영화</a:t>
            </a:r>
            <a:r>
              <a:rPr lang="en-US" altLang="ko-KR" sz="42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, </a:t>
            </a:r>
            <a:r>
              <a:rPr lang="ko-KR" altLang="en-US" sz="4200" kern="1200" dirty="0">
                <a:solidFill>
                  <a:schemeClr val="tx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드라마에 대한  이용자의 평가를 바탕으로 다시 학습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그래픽 3" descr="머리와 톱니바퀴">
            <a:extLst>
              <a:ext uri="{FF2B5EF4-FFF2-40B4-BE49-F238E27FC236}">
                <a16:creationId xmlns:a16="http://schemas.microsoft.com/office/drawing/2014/main" id="{86F90CF8-1549-4988-9F6B-C17B7800E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1503" y="2129307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0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764755-3CD9-47AC-937F-B4B9F8BB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2"/>
            <a:ext cx="4284418" cy="3246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56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7. </a:t>
            </a:r>
            <a:r>
              <a:rPr lang="ko-KR" altLang="en-US" sz="56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학습을 바탕으로 더 알맞은 영화</a:t>
            </a:r>
            <a:r>
              <a:rPr lang="en-US" altLang="ko-KR" sz="56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, </a:t>
            </a:r>
            <a:r>
              <a:rPr lang="ko-KR" altLang="en-US" sz="5600" kern="1200" dirty="0">
                <a:solidFill>
                  <a:schemeClr val="bg1"/>
                </a:solidFill>
                <a:latin typeface="경기천년제목OTF Bold" panose="02020803020101020101" pitchFamily="18" charset="-127"/>
                <a:ea typeface="경기천년제목OTF Bold" panose="02020803020101020101" pitchFamily="18" charset="-127"/>
              </a:rPr>
              <a:t>드라마 추천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434444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래픽 3" descr="플레이북">
            <a:extLst>
              <a:ext uri="{FF2B5EF4-FFF2-40B4-BE49-F238E27FC236}">
                <a16:creationId xmlns:a16="http://schemas.microsoft.com/office/drawing/2014/main" id="{B2F414FE-2AF9-49B8-9FCA-2A1B7D754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737170" y="1020471"/>
            <a:ext cx="4811351" cy="481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43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와이드스크린</PresentationFormat>
  <Paragraphs>15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경기천년제목OTF Bold</vt:lpstr>
      <vt:lpstr>맑은 고딕</vt:lpstr>
      <vt:lpstr>Arial</vt:lpstr>
      <vt:lpstr>Calibri</vt:lpstr>
      <vt:lpstr>Office 테마</vt:lpstr>
      <vt:lpstr>Voo-ong</vt:lpstr>
      <vt:lpstr>현재 존재하는 영화 추천 서비스</vt:lpstr>
      <vt:lpstr>문제점</vt:lpstr>
      <vt:lpstr>해결방안 및 아이디어</vt:lpstr>
      <vt:lpstr>PowerPoint 프레젠테이션</vt:lpstr>
      <vt:lpstr>2. 상세 정보 포함 DB 구축</vt:lpstr>
      <vt:lpstr>3. 각 정보의 태그화</vt:lpstr>
      <vt:lpstr>4. 각 영화, 드라마에 대한 이용자의 평가 입력</vt:lpstr>
      <vt:lpstr>5. 평가를 바탕으로 한 추천</vt:lpstr>
      <vt:lpstr>6. 추천했던 영화, 드라마에 대한  이용자의 평가를 바탕으로 다시 학습</vt:lpstr>
      <vt:lpstr>7. 학습을 바탕으로 더 알맞은 영화, 드라마 추천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Voo-ong</dc:title>
  <dc:creator>임 동혁</dc:creator>
  <cp:lastModifiedBy>임 동혁</cp:lastModifiedBy>
  <cp:revision>1</cp:revision>
  <dcterms:created xsi:type="dcterms:W3CDTF">2020-03-10T06:25:24Z</dcterms:created>
  <dcterms:modified xsi:type="dcterms:W3CDTF">2020-03-10T06:25:54Z</dcterms:modified>
</cp:coreProperties>
</file>